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857375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5" autoAdjust="0"/>
    <p:restoredTop sz="91525" autoAdjust="0"/>
  </p:normalViewPr>
  <p:slideViewPr>
    <p:cSldViewPr snapToGrid="0">
      <p:cViewPr varScale="1">
        <p:scale>
          <a:sx n="142" d="100"/>
          <a:sy n="142" d="100"/>
        </p:scale>
        <p:origin x="752" y="184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3/13/25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167" y="1179418"/>
            <a:ext cx="5739646" cy="2387600"/>
          </a:xfrm>
          <a:noFill/>
        </p:spPr>
        <p:txBody>
          <a:bodyPr/>
          <a:lstStyle/>
          <a:p>
            <a:r>
              <a:rPr lang="en-US" dirty="0"/>
              <a:t>Stack Overflow Developer Survey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040" y="3731247"/>
            <a:ext cx="5849957" cy="1006006"/>
          </a:xfrm>
          <a:noFill/>
        </p:spPr>
        <p:txBody>
          <a:bodyPr/>
          <a:lstStyle/>
          <a:p>
            <a:r>
              <a:rPr lang="en-US" dirty="0">
                <a:solidFill>
                  <a:srgbClr val="0072C3"/>
                </a:solidFill>
              </a:rPr>
              <a:t>MD HASANUZZAMAN</a:t>
            </a:r>
            <a:br>
              <a:rPr lang="en-US" dirty="0">
                <a:solidFill>
                  <a:srgbClr val="0072C3"/>
                </a:solidFill>
              </a:rPr>
            </a:br>
            <a:r>
              <a:rPr lang="en-US" dirty="0">
                <a:solidFill>
                  <a:srgbClr val="0072C3"/>
                </a:solidFill>
              </a:rPr>
              <a:t>MARCH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719" y="387350"/>
            <a:ext cx="4794861" cy="4351338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rgbClr val="0072C3"/>
                </a:solidFill>
              </a:rPr>
              <a:t>Executive Summary</a:t>
            </a:r>
          </a:p>
          <a:p>
            <a:r>
              <a:rPr lang="en-US" sz="2200" dirty="0">
                <a:solidFill>
                  <a:srgbClr val="0072C3"/>
                </a:solidFill>
              </a:rPr>
              <a:t>Introduction</a:t>
            </a:r>
          </a:p>
          <a:p>
            <a:r>
              <a:rPr lang="en-US" sz="2200" dirty="0">
                <a:solidFill>
                  <a:srgbClr val="0072C3"/>
                </a:solidFill>
              </a:rPr>
              <a:t>Methodology</a:t>
            </a:r>
          </a:p>
          <a:p>
            <a:r>
              <a:rPr lang="en-US" sz="2200" dirty="0">
                <a:solidFill>
                  <a:srgbClr val="0072C3"/>
                </a:solidFill>
              </a:rPr>
              <a:t>Results</a:t>
            </a:r>
          </a:p>
          <a:p>
            <a:pPr lvl="1"/>
            <a:r>
              <a:rPr lang="en-US" sz="1800" dirty="0">
                <a:solidFill>
                  <a:srgbClr val="0072C3"/>
                </a:solidFill>
              </a:rPr>
              <a:t>Visualization – Charts</a:t>
            </a:r>
          </a:p>
          <a:p>
            <a:pPr lvl="1"/>
            <a:r>
              <a:rPr lang="en-US" sz="1800" dirty="0">
                <a:solidFill>
                  <a:srgbClr val="0072C3"/>
                </a:solidFill>
              </a:rPr>
              <a:t>Dashboard</a:t>
            </a:r>
          </a:p>
          <a:p>
            <a:r>
              <a:rPr lang="en-US" sz="2200" dirty="0">
                <a:solidFill>
                  <a:srgbClr val="0072C3"/>
                </a:solidFill>
              </a:rPr>
              <a:t>Discussion</a:t>
            </a:r>
          </a:p>
          <a:p>
            <a:pPr lvl="1"/>
            <a:r>
              <a:rPr lang="en-US" sz="1800" dirty="0">
                <a:solidFill>
                  <a:srgbClr val="0072C3"/>
                </a:solidFill>
              </a:rPr>
              <a:t>Findings &amp; Implications</a:t>
            </a:r>
          </a:p>
          <a:p>
            <a:r>
              <a:rPr lang="en-US" sz="2200" dirty="0">
                <a:solidFill>
                  <a:srgbClr val="0072C3"/>
                </a:solidFill>
              </a:rPr>
              <a:t>Conclusion</a:t>
            </a:r>
          </a:p>
          <a:p>
            <a:r>
              <a:rPr lang="en-US" sz="2200" dirty="0">
                <a:solidFill>
                  <a:srgbClr val="0072C3"/>
                </a:solidFill>
              </a:rPr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1825624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Objective of Data Contextualization and Analysis</a:t>
            </a:r>
          </a:p>
          <a:p>
            <a:r>
              <a:rPr lang="en-US" sz="2200" dirty="0"/>
              <a:t>Description of the Methodology Used</a:t>
            </a:r>
          </a:p>
          <a:p>
            <a:r>
              <a:rPr lang="en-US" sz="2200" dirty="0"/>
              <a:t>Data Collection Process</a:t>
            </a:r>
          </a:p>
          <a:p>
            <a:r>
              <a:rPr lang="en-US" sz="2200" dirty="0"/>
              <a:t>Data Processing and Evaluation</a:t>
            </a:r>
          </a:p>
          <a:p>
            <a:r>
              <a:rPr lang="en-US" sz="2200" dirty="0"/>
              <a:t>Data Representation Through Visuals</a:t>
            </a:r>
          </a:p>
          <a:p>
            <a:r>
              <a:rPr lang="en-US" sz="2200" dirty="0"/>
              <a:t>Interpretation and Discussion of Findings</a:t>
            </a:r>
          </a:p>
          <a:p>
            <a:r>
              <a:rPr lang="en-US" sz="2200" dirty="0"/>
              <a:t>Summary and Final Insights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chemeClr val="tx1"/>
                </a:solidFill>
              </a:rPr>
              <a:t>Stack Overflow’s annual Developer Survey is one of the most extensive and detailed studies of programmers worldwide.</a:t>
            </a:r>
          </a:p>
          <a:p>
            <a:r>
              <a:rPr lang="en-US" sz="2200" dirty="0">
                <a:solidFill>
                  <a:schemeClr val="tx1"/>
                </a:solidFill>
              </a:rPr>
              <a:t>The results may not fully reflect the entire developer community. </a:t>
            </a:r>
          </a:p>
          <a:p>
            <a:r>
              <a:rPr lang="en-US" sz="2200" dirty="0">
                <a:solidFill>
                  <a:schemeClr val="tx1"/>
                </a:solidFill>
              </a:rPr>
              <a:t>It includes insights from nearly 90,000 developers. </a:t>
            </a:r>
          </a:p>
          <a:p>
            <a:r>
              <a:rPr lang="en-US" sz="2200" dirty="0">
                <a:solidFill>
                  <a:schemeClr val="tx1"/>
                </a:solidFill>
              </a:rPr>
              <a:t>Identifies trends to forecast the future direction of the developer community.</a:t>
            </a:r>
          </a:p>
          <a:p>
            <a:r>
              <a:rPr lang="en-US" sz="2200" dirty="0">
                <a:solidFill>
                  <a:schemeClr val="tx1"/>
                </a:solidFill>
              </a:rPr>
              <a:t>Provides a profile of developers from different regions and backgrounds.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461246"/>
            <a:ext cx="7068725" cy="5172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Gather survey data and examine its content.</a:t>
            </a:r>
          </a:p>
          <a:p>
            <a:r>
              <a:rPr lang="en-US" sz="2200" dirty="0"/>
              <a:t>Perform web scraping to collect data.	</a:t>
            </a:r>
          </a:p>
          <a:p>
            <a:r>
              <a:rPr lang="en-US" sz="2200" dirty="0"/>
              <a:t>Use APIs for data access.</a:t>
            </a:r>
          </a:p>
          <a:p>
            <a:r>
              <a:rPr lang="en-US" sz="2200" dirty="0"/>
              <a:t>Utilize the `requests` library to retrieve data</a:t>
            </a:r>
          </a:p>
          <a:p>
            <a:r>
              <a:rPr lang="en-US" sz="2200" dirty="0"/>
              <a:t>Conduct data wrangling to clean and organize data.</a:t>
            </a:r>
          </a:p>
          <a:p>
            <a:r>
              <a:rPr lang="en-US" sz="2200" dirty="0"/>
              <a:t>Perform exploratory data analysis (EDA). </a:t>
            </a:r>
          </a:p>
          <a:p>
            <a:r>
              <a:rPr lang="en-US" sz="2200" dirty="0"/>
              <a:t>Analyze data distribution and identify patterns.</a:t>
            </a:r>
          </a:p>
          <a:p>
            <a:r>
              <a:rPr lang="en-US" sz="2200" dirty="0"/>
              <a:t>Manage and handle outliers. </a:t>
            </a:r>
          </a:p>
          <a:p>
            <a:r>
              <a:rPr lang="en-US" sz="2200" dirty="0"/>
              <a:t>Explore correlations between variables. </a:t>
            </a:r>
          </a:p>
          <a:p>
            <a:r>
              <a:rPr lang="en-US" sz="2200" dirty="0"/>
              <a:t>Create data visualizations to highlight distributions, relationships, composition, and comparisons.</a:t>
            </a:r>
          </a:p>
          <a:p>
            <a:r>
              <a:rPr lang="en-US" sz="2200" dirty="0"/>
              <a:t>Develop interactive dashboards to present insights.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&lt;Bar chart of top 10 programming languages for the current year goes here.&gt;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programming languages for the next year goes here.&gt;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09ABF0-9268-057A-8BB2-03A6B4B8D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93" y="2321858"/>
            <a:ext cx="5707204" cy="36946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AE7231-71E0-B991-FCDF-953612B8B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844" y="2287132"/>
            <a:ext cx="5837780" cy="35765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JavaScript continues to dominate as the top language.</a:t>
            </a:r>
          </a:p>
          <a:p>
            <a:r>
              <a:rPr lang="en-US" dirty="0"/>
              <a:t>Python is the fastest-growing language.</a:t>
            </a:r>
          </a:p>
          <a:p>
            <a:r>
              <a:rPr lang="en-US" dirty="0"/>
              <a:t>Swift remains a high-paying language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JavaScript's popularity paves the way for developers to switch to TypeScript.</a:t>
            </a:r>
          </a:p>
          <a:p>
            <a:r>
              <a:rPr lang="en-GB" dirty="0"/>
              <a:t>Increased demand for Python developers</a:t>
            </a:r>
          </a:p>
          <a:p>
            <a:r>
              <a:rPr lang="en-GB" dirty="0"/>
              <a:t>Companies may prioritize hiring Swift developers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databases for the current year goes here &gt;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databases for the next year goes here.&gt;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0568C5-3B89-E003-079E-B161ACBE5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82" y="2415870"/>
            <a:ext cx="11977181" cy="3698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" y="365125"/>
            <a:ext cx="12094029" cy="1325563"/>
          </a:xfrm>
        </p:spPr>
        <p:txBody>
          <a:bodyPr/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MySQL is the most popular database.</a:t>
            </a:r>
          </a:p>
          <a:p>
            <a:r>
              <a:rPr lang="en-GB" dirty="0"/>
              <a:t>Decreased interest in Microsoft SQL Server.</a:t>
            </a:r>
          </a:p>
          <a:p>
            <a:r>
              <a:rPr lang="en-GB" dirty="0"/>
              <a:t>Increasing interest in PostgreSQL and MongoDB.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MySQL continues to dominate the database market.</a:t>
            </a:r>
          </a:p>
          <a:p>
            <a:r>
              <a:rPr lang="en-GB" dirty="0"/>
              <a:t>Microsoft SQL Server may face market challenges.</a:t>
            </a:r>
          </a:p>
          <a:p>
            <a:r>
              <a:rPr lang="en-GB" dirty="0"/>
              <a:t>PostgreSQL and MongoDB are becoming more preferred.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396169-0B8D-6F87-8F14-E5016F589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356" y="1391919"/>
            <a:ext cx="8560164" cy="4772292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A4AC4-6EE3-70FC-50FF-A96262239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782" y="1407442"/>
            <a:ext cx="9103658" cy="50125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3 goes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Point 1</a:t>
            </a:r>
          </a:p>
          <a:p>
            <a:r>
              <a:rPr lang="en-US"/>
              <a:t>Point 2</a:t>
            </a:r>
          </a:p>
          <a:p>
            <a:r>
              <a:rPr lang="en-US"/>
              <a:t>Point 3</a:t>
            </a:r>
          </a:p>
          <a:p>
            <a:r>
              <a:rPr lang="en-US"/>
              <a:t>Point 4</a:t>
            </a:r>
            <a:endParaRPr lang="en-US" dirty="0"/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Include any relevant additional charts, or tables that you may have created during the analysis phase.</a:t>
            </a:r>
            <a:endParaRPr lang="en-US" dirty="0"/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/>
              <a:t>In Module 1 you have collected the job posting data using Job API in a file named “</a:t>
            </a:r>
            <a:r>
              <a:rPr lang="en-IN" sz="2400"/>
              <a:t>job-postings.xlsx</a:t>
            </a:r>
            <a:r>
              <a:rPr lang="en-US" sz="2200"/>
              <a:t>”. Present that data using a bar chart here. Order the bar chart in the descending order of the number of job postings.</a:t>
            </a:r>
            <a:endParaRPr 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/>
              <a:t>In Module 1 you have collected the job postings data using web scraping in a file named “</a:t>
            </a:r>
            <a:r>
              <a:rPr lang="en-IN" sz="2400"/>
              <a:t>popular-languages.csv</a:t>
            </a:r>
            <a:r>
              <a:rPr lang="en-US" sz="2200"/>
              <a:t>”. Present that data using a bar chart here. Order the bar chart in the descending order of salary.</a:t>
            </a:r>
            <a:endParaRPr 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78</TotalTime>
  <Words>538</Words>
  <Application>Microsoft Macintosh PowerPoint</Application>
  <PresentationFormat>Widescreen</PresentationFormat>
  <Paragraphs>101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Helv</vt:lpstr>
      <vt:lpstr>IBM Plex Mono</vt:lpstr>
      <vt:lpstr>IBM Plex Sans</vt:lpstr>
      <vt:lpstr>IBM Plex Sans SemiBold</vt:lpstr>
      <vt:lpstr>SLIDE_TEMPLATE_skill_network</vt:lpstr>
      <vt:lpstr>Stack Overflow Developer Survey</vt:lpstr>
      <vt:lpstr>PowerPoint Presentation</vt:lpstr>
      <vt:lpstr>EXECUTIVE SUMMARY</vt:lpstr>
      <vt:lpstr>INTRODUCTION</vt:lpstr>
      <vt:lpstr>METHODOLOGY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</vt:lpstr>
      <vt:lpstr>DASHBOARD TAB 2</vt:lpstr>
      <vt:lpstr>DASHBOARD TAB 3</vt:lpstr>
      <vt:lpstr>DISCUSSION</vt:lpstr>
      <vt:lpstr>OVERALL FINDINGS &amp; IMPLICATIONS</vt:lpstr>
      <vt:lpstr>CONCLUSION</vt:lpstr>
      <vt:lpstr>APPENDIX</vt:lpstr>
      <vt:lpstr> JOB POSTINGS</vt:lpstr>
      <vt:lpstr>POPULAR LANGUAGES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Hasanuzzaman</cp:lastModifiedBy>
  <cp:revision>10</cp:revision>
  <dcterms:created xsi:type="dcterms:W3CDTF">2024-10-30T05:40:03Z</dcterms:created>
  <dcterms:modified xsi:type="dcterms:W3CDTF">2025-03-13T06:27:33Z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