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24"/>
  </p:notesMasterIdLst>
  <p:sldIdLst>
    <p:sldId id="256" r:id="rId5"/>
    <p:sldId id="257" r:id="rId6"/>
    <p:sldId id="258" r:id="rId7"/>
    <p:sldId id="259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1857375"/>
  <p:custDataLst>
    <p:tags r:id="rId2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007D79"/>
    <a:srgbClr val="D02670"/>
    <a:srgbClr val="231F20"/>
    <a:srgbClr val="33B1FF"/>
    <a:srgbClr val="262626"/>
    <a:srgbClr val="525252"/>
    <a:srgbClr val="BE95FF"/>
    <a:srgbClr val="FFFF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55" autoAdjust="0"/>
    <p:restoredTop sz="91525" autoAdjust="0"/>
  </p:normalViewPr>
  <p:slideViewPr>
    <p:cSldViewPr snapToGrid="0">
      <p:cViewPr varScale="1">
        <p:scale>
          <a:sx n="142" d="100"/>
          <a:sy n="142" d="100"/>
        </p:scale>
        <p:origin x="760" y="184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gs" Target="tags/tag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3/13/25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838200" y="1364249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image" Target="../media/image4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7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6.png"/><Relationship Id="rId10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Relationship Id="rId14" Type="http://schemas.openxmlformats.org/officeDocument/2006/relationships/image" Target="../media/image5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3" Type="http://schemas.openxmlformats.org/officeDocument/2006/relationships/image" Target="../media/image9.png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10.png"/><Relationship Id="rId10" Type="http://schemas.openxmlformats.org/officeDocument/2006/relationships/customXml" Target="../ink/ink5.xml"/><Relationship Id="rId4" Type="http://schemas.openxmlformats.org/officeDocument/2006/relationships/customXml" Target="../ink/ink1.xml"/><Relationship Id="rId9" Type="http://schemas.openxmlformats.org/officeDocument/2006/relationships/image" Target="../media/image11.png"/><Relationship Id="rId14" Type="http://schemas.openxmlformats.org/officeDocument/2006/relationships/customXml" Target="../ink/ink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2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4897" y="2120712"/>
            <a:ext cx="5739646" cy="1474135"/>
          </a:xfrm>
          <a:noFill/>
        </p:spPr>
        <p:txBody>
          <a:bodyPr/>
          <a:lstStyle/>
          <a:p>
            <a:r>
              <a:rPr lang="en-US" dirty="0"/>
              <a:t>Stack Overflow Developer Survey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31652" y="3686424"/>
            <a:ext cx="5849957" cy="1006006"/>
          </a:xfrm>
          <a:noFill/>
        </p:spPr>
        <p:txBody>
          <a:bodyPr/>
          <a:lstStyle/>
          <a:p>
            <a:r>
              <a:rPr lang="en-US" dirty="0">
                <a:solidFill>
                  <a:srgbClr val="0072C3"/>
                </a:solidFill>
              </a:rPr>
              <a:t>MD HASANUZZAMAN</a:t>
            </a:r>
            <a:br>
              <a:rPr lang="en-US" dirty="0">
                <a:solidFill>
                  <a:srgbClr val="0072C3"/>
                </a:solidFill>
              </a:rPr>
            </a:br>
            <a:r>
              <a:rPr lang="en-US" dirty="0">
                <a:solidFill>
                  <a:srgbClr val="0072C3"/>
                </a:solidFill>
              </a:rPr>
              <a:t>DATA SCIENTIST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4719" y="387350"/>
            <a:ext cx="4794861" cy="4351338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13BC838-B25A-D37F-BC71-DD6178957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711" y="2025672"/>
            <a:ext cx="3194581" cy="319458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EC79264-7E04-A135-9158-F7EF333AC3D8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OUTLINE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639434-C7DB-C6DD-28C9-5FE3588C5BC8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>
                <a:solidFill>
                  <a:srgbClr val="0072C3"/>
                </a:solidFill>
              </a:rPr>
              <a:t>Executive Summary</a:t>
            </a:r>
          </a:p>
          <a:p>
            <a:r>
              <a:rPr lang="en-US" sz="2200" dirty="0">
                <a:solidFill>
                  <a:srgbClr val="0072C3"/>
                </a:solidFill>
              </a:rPr>
              <a:t>Introduction</a:t>
            </a:r>
          </a:p>
          <a:p>
            <a:r>
              <a:rPr lang="en-US" sz="2200" dirty="0">
                <a:solidFill>
                  <a:srgbClr val="0072C3"/>
                </a:solidFill>
              </a:rPr>
              <a:t>Methodology</a:t>
            </a:r>
          </a:p>
          <a:p>
            <a:r>
              <a:rPr lang="en-US" sz="2200" dirty="0">
                <a:solidFill>
                  <a:srgbClr val="0072C3"/>
                </a:solidFill>
              </a:rPr>
              <a:t>Results</a:t>
            </a:r>
          </a:p>
          <a:p>
            <a:pPr lvl="1"/>
            <a:r>
              <a:rPr lang="en-US" sz="1800" dirty="0">
                <a:solidFill>
                  <a:srgbClr val="0072C3"/>
                </a:solidFill>
              </a:rPr>
              <a:t>Visualization – Charts</a:t>
            </a:r>
          </a:p>
          <a:p>
            <a:pPr lvl="1"/>
            <a:r>
              <a:rPr lang="en-US" sz="1800" dirty="0">
                <a:solidFill>
                  <a:srgbClr val="0072C3"/>
                </a:solidFill>
              </a:rPr>
              <a:t>Dashboard</a:t>
            </a:r>
          </a:p>
          <a:p>
            <a:r>
              <a:rPr lang="en-US" sz="2200" dirty="0">
                <a:solidFill>
                  <a:srgbClr val="0072C3"/>
                </a:solidFill>
              </a:rPr>
              <a:t>Discussion</a:t>
            </a:r>
          </a:p>
          <a:p>
            <a:pPr lvl="1"/>
            <a:r>
              <a:rPr lang="en-US" sz="1800" dirty="0">
                <a:solidFill>
                  <a:srgbClr val="0072C3"/>
                </a:solidFill>
              </a:rPr>
              <a:t>Findings &amp; Implications</a:t>
            </a:r>
          </a:p>
          <a:p>
            <a:r>
              <a:rPr lang="en-US" sz="2200" dirty="0">
                <a:solidFill>
                  <a:srgbClr val="0072C3"/>
                </a:solidFill>
              </a:rPr>
              <a:t>Conclusion</a:t>
            </a:r>
          </a:p>
          <a:p>
            <a:r>
              <a:rPr lang="en-US" sz="2200" dirty="0">
                <a:solidFill>
                  <a:srgbClr val="0072C3"/>
                </a:solidFill>
              </a:rPr>
              <a:t>Appendix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14:cNvPr>
              <p14:cNvContentPartPr/>
              <p14:nvPr/>
            </p14:nvContentPartPr>
            <p14:xfrm>
              <a:off x="2328120" y="9629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38120" y="782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45324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926" y="304965"/>
            <a:ext cx="8565109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4285075" y="1825624"/>
            <a:ext cx="7068725" cy="44654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Objective of Data Contextualization and Analysis</a:t>
            </a:r>
          </a:p>
          <a:p>
            <a:r>
              <a:rPr lang="en-US" sz="2200" dirty="0"/>
              <a:t>Description of the Methodology Used</a:t>
            </a:r>
          </a:p>
          <a:p>
            <a:r>
              <a:rPr lang="en-US" sz="2200" dirty="0"/>
              <a:t>Data Collection Process</a:t>
            </a:r>
          </a:p>
          <a:p>
            <a:r>
              <a:rPr lang="en-US" sz="2200" dirty="0"/>
              <a:t>Data Processing and Evaluation</a:t>
            </a:r>
          </a:p>
          <a:p>
            <a:r>
              <a:rPr lang="en-US" sz="2200" dirty="0"/>
              <a:t>Data Representation Through Visuals</a:t>
            </a:r>
          </a:p>
          <a:p>
            <a:r>
              <a:rPr lang="en-US" sz="2200" dirty="0"/>
              <a:t>Interpretation and Discussion of Findings</a:t>
            </a:r>
          </a:p>
          <a:p>
            <a:r>
              <a:rPr lang="en-US" sz="2200" dirty="0"/>
              <a:t>Summary and Final Insights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6795A9-FE70-B337-8B17-B79ACA60A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494" y="2302762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021" y="365125"/>
            <a:ext cx="7647865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C879F-E713-B75A-D2DE-0953EB0E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347" y="2262036"/>
            <a:ext cx="3054361" cy="305436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4285075" y="1825625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>
                <a:solidFill>
                  <a:schemeClr val="tx1"/>
                </a:solidFill>
              </a:rPr>
              <a:t>Stack Overflow’s annual Developer Survey is one of the most extensive and detailed studies of programmers worldwide.</a:t>
            </a:r>
          </a:p>
          <a:p>
            <a:r>
              <a:rPr lang="en-US" sz="2200" dirty="0">
                <a:solidFill>
                  <a:schemeClr val="tx1"/>
                </a:solidFill>
              </a:rPr>
              <a:t>The results may not fully reflect the entire developer community. </a:t>
            </a:r>
          </a:p>
          <a:p>
            <a:r>
              <a:rPr lang="en-US" sz="2200" dirty="0">
                <a:solidFill>
                  <a:schemeClr val="tx1"/>
                </a:solidFill>
              </a:rPr>
              <a:t>It includes insights from nearly 90,000 developers. </a:t>
            </a:r>
          </a:p>
          <a:p>
            <a:r>
              <a:rPr lang="en-US" sz="2200" dirty="0">
                <a:solidFill>
                  <a:schemeClr val="tx1"/>
                </a:solidFill>
              </a:rPr>
              <a:t>Identifies trends to forecast the future direction of the developer community.</a:t>
            </a:r>
          </a:p>
          <a:p>
            <a:r>
              <a:rPr lang="en-US" sz="2200" dirty="0">
                <a:solidFill>
                  <a:schemeClr val="tx1"/>
                </a:solidFill>
              </a:rPr>
              <a:t>Provides a profile of developers from different regions and backgrounds.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376642"/>
            <a:ext cx="7230723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4285075" y="1461246"/>
            <a:ext cx="7068725" cy="5172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Gather survey data and examine its content.</a:t>
            </a:r>
          </a:p>
          <a:p>
            <a:r>
              <a:rPr lang="en-US" sz="2200" dirty="0"/>
              <a:t>Perform web scraping to collect data.	</a:t>
            </a:r>
          </a:p>
          <a:p>
            <a:r>
              <a:rPr lang="en-US" sz="2200" dirty="0"/>
              <a:t>Use APIs for data access.</a:t>
            </a:r>
          </a:p>
          <a:p>
            <a:r>
              <a:rPr lang="en-US" sz="2200" dirty="0"/>
              <a:t>Utilize the `requests` library to retrieve data</a:t>
            </a:r>
          </a:p>
          <a:p>
            <a:r>
              <a:rPr lang="en-US" sz="2200" dirty="0"/>
              <a:t>Conduct data wrangling to clean and organize data.</a:t>
            </a:r>
          </a:p>
          <a:p>
            <a:r>
              <a:rPr lang="en-US" sz="2200" dirty="0"/>
              <a:t>Perform exploratory data analysis (EDA). </a:t>
            </a:r>
          </a:p>
          <a:p>
            <a:r>
              <a:rPr lang="en-US" sz="2200" dirty="0"/>
              <a:t>Analyze data distribution and identify patterns.</a:t>
            </a:r>
          </a:p>
          <a:p>
            <a:r>
              <a:rPr lang="en-US" sz="2200" dirty="0"/>
              <a:t>Manage and handle outliers. </a:t>
            </a:r>
          </a:p>
          <a:p>
            <a:r>
              <a:rPr lang="en-US" sz="2200" dirty="0"/>
              <a:t>Explore correlations between variables. </a:t>
            </a:r>
          </a:p>
          <a:p>
            <a:r>
              <a:rPr lang="en-US" sz="2200" dirty="0"/>
              <a:t>Create data visualizations to highlight distributions, relationships, composition, and comparisons.</a:t>
            </a:r>
          </a:p>
          <a:p>
            <a:r>
              <a:rPr lang="en-US" sz="2200" dirty="0"/>
              <a:t>Develop interactive dashboards to present insights.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CF71F-8A03-DAC7-4BC2-F05644ECB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655" y="1831709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27A2E-C667-F6D3-A1E3-47F70603E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39A591-4DF0-3912-FF72-3FD0BD7B9C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PROGRAMMING LANGUAGE TRENDS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4B8C8AD-F58A-1F17-9CA2-E737E19499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22286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Year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9FB3B79-D3E9-99FC-ECF2-28CCBF6475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17581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Next Year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DFAC5CF-1B58-ABB4-D63B-1D931D572459}"/>
              </a:ext>
            </a:extLst>
          </p:cNvPr>
          <p:cNvSpPr txBox="1">
            <a:spLocks/>
          </p:cNvSpPr>
          <p:nvPr/>
        </p:nvSpPr>
        <p:spPr>
          <a:xfrm>
            <a:off x="838199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&lt;Bar chart of top 10 programming languages for the current year goes here.&gt;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BAA9DB0-9EAC-9B25-C7F3-3CE83758128E}"/>
              </a:ext>
            </a:extLst>
          </p:cNvPr>
          <p:cNvSpPr txBox="1">
            <a:spLocks/>
          </p:cNvSpPr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&lt; Bar chart of top 10 programming languages for the next year goes here.&gt;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09ABF0-9268-057A-8BB2-03A6B4B8D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93" y="2321858"/>
            <a:ext cx="5707204" cy="369466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AE7231-71E0-B991-FCDF-953612B8B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1844" y="2287132"/>
            <a:ext cx="5837780" cy="357656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684467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2800" dirty="0"/>
              <a:t>PROGRAMMING LANGUAGE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pPr marL="0" indent="0">
              <a:buNone/>
            </a:pPr>
            <a:endParaRPr lang="en-US" dirty="0"/>
          </a:p>
          <a:p>
            <a:r>
              <a:rPr lang="en-GB" dirty="0"/>
              <a:t>JavaScript continues to dominate as the top language.</a:t>
            </a:r>
          </a:p>
          <a:p>
            <a:r>
              <a:rPr lang="en-US" dirty="0"/>
              <a:t>Python is the fastest-growing language.</a:t>
            </a:r>
          </a:p>
          <a:p>
            <a:r>
              <a:rPr lang="en-US" dirty="0"/>
              <a:t>Swift remains a high-paying language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JavaScript's popularity paves the way for developers to switch to TypeScript.</a:t>
            </a:r>
          </a:p>
          <a:p>
            <a:r>
              <a:rPr lang="en-GB" dirty="0"/>
              <a:t>Increased demand for Python developers</a:t>
            </a:r>
          </a:p>
          <a:p>
            <a:r>
              <a:rPr lang="en-GB" dirty="0"/>
              <a:t>Companies may prioritize hiring Swift developers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/>
          <a:lstStyle/>
          <a:p>
            <a:r>
              <a:rPr lang="en-US" dirty="0"/>
              <a:t>DATABASE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22286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17581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Next Year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838199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&lt; Bar chart of top 10 databases for the current year goes here &gt;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&lt; Bar chart of top 10 databases for the next year goes here.&gt;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0568C5-3B89-E003-079E-B161ACBE50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82" y="2415870"/>
            <a:ext cx="11977181" cy="369805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A6A9C-70D0-119E-38BE-1738DA5A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97E2B-01DB-9C21-4CF2-1586AB1C3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85" y="365125"/>
            <a:ext cx="12094029" cy="1325563"/>
          </a:xfrm>
        </p:spPr>
        <p:txBody>
          <a:bodyPr/>
          <a:lstStyle/>
          <a:p>
            <a:r>
              <a:rPr lang="en-US" dirty="0"/>
              <a:t>DATABASE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EC42F-75A2-FA08-F2B6-EB2817BBF8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pPr marL="0" indent="0">
              <a:buNone/>
            </a:pPr>
            <a:endParaRPr lang="en-US" dirty="0"/>
          </a:p>
          <a:p>
            <a:r>
              <a:rPr lang="en-GB" dirty="0"/>
              <a:t>MySQL is the most popular database.</a:t>
            </a:r>
          </a:p>
          <a:p>
            <a:r>
              <a:rPr lang="en-GB" dirty="0"/>
              <a:t>Decreased interest in Microsoft SQL Server.</a:t>
            </a:r>
          </a:p>
          <a:p>
            <a:r>
              <a:rPr lang="en-GB" dirty="0"/>
              <a:t>Increasing interest in PostgreSQL and MongoDB.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27B10A-E9C3-5B71-0345-782E28BDB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GB" dirty="0"/>
              <a:t>MySQL continues to dominate the database market.</a:t>
            </a:r>
          </a:p>
          <a:p>
            <a:r>
              <a:rPr lang="en-GB" dirty="0"/>
              <a:t>Microsoft SQL Server may face market challenges.</a:t>
            </a:r>
          </a:p>
          <a:p>
            <a:r>
              <a:rPr lang="en-GB" dirty="0"/>
              <a:t>PostgreSQL and MongoDB are becoming more preferred.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88125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75" y="1901819"/>
            <a:ext cx="3054361" cy="305436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F0CA-55D1-0835-20D4-03D017A1D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93914-A678-A34E-C52A-16D0ADAA2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DASHBOARD TAB 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396169-0B8D-6F87-8F14-E5016F589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3356" y="1391919"/>
            <a:ext cx="8560164" cy="4772292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29736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8F23D-B8D7-D0E4-EDC5-E0F023884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F933A-3681-3D82-68EF-62EC07822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DASHBOARD TAB 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EA4AC4-6EE3-70FC-50FF-A962622391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782" y="1407442"/>
            <a:ext cx="9103658" cy="501252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48496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A10D3-267F-7A90-5160-775BFEBCA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0C82-5F1A-F7B1-2C56-5C08240C16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DASHBOARD TAB 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4EC961D-49BF-4053-8105-B1C3EC99D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9578" y="1391075"/>
            <a:ext cx="9052262" cy="498505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05636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62C0A-56EF-B349-A097-27B4D460D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98769-531F-C6A5-406F-D1C3D2805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DISCUSSION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1F45ECC1-C956-CADF-DDFD-F54C6608E40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253331" y="1825625"/>
            <a:ext cx="4351338" cy="4351338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67EF50-003F-6BB0-4367-42BB884C77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573335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05330-0589-A550-601A-037CA416F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A8902-AF46-DDE8-D792-7940E18AF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OVERALL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6B89C-35B9-C514-4E9C-FCBE8D68D3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Findings</a:t>
            </a:r>
          </a:p>
          <a:p>
            <a:pPr marL="0" indent="0">
              <a:buNone/>
            </a:pPr>
            <a:endParaRPr lang="en-US" dirty="0"/>
          </a:p>
          <a:p>
            <a:r>
              <a:rPr lang="en-GB" dirty="0"/>
              <a:t>JavaScript is widely used, and TypeScript is growing in popularity.</a:t>
            </a:r>
          </a:p>
          <a:p>
            <a:r>
              <a:rPr lang="en-GB" dirty="0"/>
              <a:t>Over 90% of developers are young and male.</a:t>
            </a:r>
          </a:p>
          <a:p>
            <a:r>
              <a:rPr lang="en-GB" dirty="0"/>
              <a:t>Most developers are located in developed countries.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DBBA5A-826D-FFFD-F1BE-92269842D3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Implications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GB" dirty="0"/>
              <a:t>Web frameworks for JavaScript and TypeScript are seeing increasing adoption.</a:t>
            </a:r>
          </a:p>
          <a:p>
            <a:r>
              <a:rPr lang="en-GB" dirty="0"/>
              <a:t>Developer demographics are showing a gender and age skew.</a:t>
            </a:r>
          </a:p>
          <a:p>
            <a:r>
              <a:rPr lang="en-GB" dirty="0"/>
              <a:t>There is a geographical concentration of developers in wealthier nations.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65637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3A16F-6AB5-5C0B-5466-65B2A6AE8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E978FF3-BC93-079A-1687-DD4786B81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E75918E-509D-16F8-F478-FA41759FEFE9}"/>
              </a:ext>
            </a:extLst>
          </p:cNvPr>
          <p:cNvSpPr txBox="1">
            <a:spLocks/>
          </p:cNvSpPr>
          <p:nvPr/>
        </p:nvSpPr>
        <p:spPr>
          <a:xfrm>
            <a:off x="4544291" y="1825625"/>
            <a:ext cx="68095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Developers have unique characteristics.</a:t>
            </a:r>
          </a:p>
          <a:p>
            <a:r>
              <a:rPr lang="en-GB" dirty="0"/>
              <a:t>Analysing trends in tools and languages provides valuable insights.</a:t>
            </a:r>
          </a:p>
          <a:p>
            <a:r>
              <a:rPr lang="en-GB" dirty="0"/>
              <a:t>There's a need to improve access to the job market in developing countries.</a:t>
            </a:r>
          </a:p>
          <a:p>
            <a:r>
              <a:rPr lang="en-GB" dirty="0"/>
              <a:t>The developer community is predominantly concentrated in developed countries, with a younger, male-dominated demographic.</a:t>
            </a:r>
            <a:endParaRPr lang="en-US" dirty="0"/>
          </a:p>
        </p:txBody>
      </p:sp>
      <p:pic>
        <p:nvPicPr>
          <p:cNvPr id="13" name="Content Placeholder 5">
            <a:extLst>
              <a:ext uri="{FF2B5EF4-FFF2-40B4-BE49-F238E27FC236}">
                <a16:creationId xmlns:a16="http://schemas.microsoft.com/office/drawing/2014/main" id="{CD985AE9-0D12-3398-B9B7-4395CABF17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25967" y="2113896"/>
            <a:ext cx="3054361" cy="305436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40378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APPENDIX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E40FF55-AE57-CB43-454D-CEFBE080CE8E}"/>
              </a:ext>
            </a:extLst>
          </p:cNvPr>
          <p:cNvSpPr txBox="1">
            <a:spLocks/>
          </p:cNvSpPr>
          <p:nvPr/>
        </p:nvSpPr>
        <p:spPr>
          <a:xfrm>
            <a:off x="4544291" y="1825625"/>
            <a:ext cx="68095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Include any relevant additional charts, or tables that you may have created during the analysis phase.</a:t>
            </a:r>
            <a:endParaRPr lang="en-US" dirty="0"/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055857" y="1849823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4E31-32FC-4A23-CEF9-98F0BB9F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334EF5D-2E2A-7FE5-06C6-01ACAB1F4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 JOB POSTINGS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72CC49-A647-70AF-F076-0E1890BB37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" b="25673"/>
          <a:stretch/>
        </p:blipFill>
        <p:spPr>
          <a:xfrm>
            <a:off x="828040" y="1417327"/>
            <a:ext cx="10744200" cy="4571984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353738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DB558-7141-B0CE-D399-712C1073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2CF5900-71B3-70B0-7CF1-4A1C535AD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248" y="383051"/>
            <a:ext cx="5929053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POPULAR LANGUAGES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C8CA495-EBF5-98EA-289E-6029C7D7A7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420614"/>
            <a:ext cx="7599680" cy="539528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459025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4DA07C5-A406-4A0D-B3E6-3856C94AC7F3}">
  <ds:schemaRefs>
    <ds:schemaRef ds:uri="155be751-a274-42e8-93fb-f39d3b9bccc8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f80a141d-92ca-4d3d-9308-f7e7b1d44ce8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IBM PPT Temp Jan 2023</Template>
  <TotalTime>103</TotalTime>
  <Words>531</Words>
  <Application>Microsoft Macintosh PowerPoint</Application>
  <PresentationFormat>Widescreen</PresentationFormat>
  <Paragraphs>96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Helv</vt:lpstr>
      <vt:lpstr>IBM Plex Mono</vt:lpstr>
      <vt:lpstr>IBM Plex Sans</vt:lpstr>
      <vt:lpstr>IBM Plex Sans SemiBold</vt:lpstr>
      <vt:lpstr>SLIDE_TEMPLATE_skill_network</vt:lpstr>
      <vt:lpstr>Stack Overflow Developer Survey</vt:lpstr>
      <vt:lpstr>PowerPoint Presentation</vt:lpstr>
      <vt:lpstr>EXECUTIVE SUMMARY</vt:lpstr>
      <vt:lpstr>INTRODUCTION</vt:lpstr>
      <vt:lpstr>METHODOLOGY</vt:lpstr>
      <vt:lpstr>PROGRAMMING LANGUAGE TRENDS</vt:lpstr>
      <vt:lpstr>PROGRAMMING LANGUAGE TRENDS - FINDINGS &amp; IMPLICATIONS</vt:lpstr>
      <vt:lpstr>DATABASE TRENDS</vt:lpstr>
      <vt:lpstr>DATABASE TRENDS - FINDINGS &amp; IMPLICATIONS</vt:lpstr>
      <vt:lpstr>DASHBOARD</vt:lpstr>
      <vt:lpstr>DASHBOARD TAB 1</vt:lpstr>
      <vt:lpstr>DASHBOARD TAB 2</vt:lpstr>
      <vt:lpstr>DASHBOARD TAB 3</vt:lpstr>
      <vt:lpstr>DISCUSSION</vt:lpstr>
      <vt:lpstr>OVERALL FINDINGS &amp; IMPLICATIONS</vt:lpstr>
      <vt:lpstr>CONCLUSION</vt:lpstr>
      <vt:lpstr>APPENDIX</vt:lpstr>
      <vt:lpstr> JOB POSTINGS</vt:lpstr>
      <vt:lpstr>POPULAR LANGUAGES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Hasanuzzaman</cp:lastModifiedBy>
  <cp:revision>18</cp:revision>
  <dcterms:created xsi:type="dcterms:W3CDTF">2024-10-30T05:40:03Z</dcterms:created>
  <dcterms:modified xsi:type="dcterms:W3CDTF">2025-03-13T06:52:15Z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