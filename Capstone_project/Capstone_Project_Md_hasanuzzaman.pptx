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4"/>
  </p:notesMasterIdLst>
  <p:sldIdLst>
    <p:sldId id="256" r:id="rId5"/>
    <p:sldId id="257" r:id="rId6"/>
    <p:sldId id="258" r:id="rId7"/>
    <p:sldId id="259" r:id="rId8"/>
    <p:sldId id="26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1857375"/>
  <p:custDataLst>
    <p:tags r:id="rId2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3"/>
    <a:srgbClr val="007D79"/>
    <a:srgbClr val="D02670"/>
    <a:srgbClr val="231F20"/>
    <a:srgbClr val="33B1FF"/>
    <a:srgbClr val="262626"/>
    <a:srgbClr val="525252"/>
    <a:srgbClr val="BE95FF"/>
    <a:srgbClr val="FFFFFF"/>
    <a:srgbClr val="C1C7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73" autoAdjust="0"/>
    <p:restoredTop sz="91525" autoAdjust="0"/>
  </p:normalViewPr>
  <p:slideViewPr>
    <p:cSldViewPr snapToGrid="0">
      <p:cViewPr varScale="1">
        <p:scale>
          <a:sx n="142" d="100"/>
          <a:sy n="142" d="100"/>
        </p:scale>
        <p:origin x="760" y="184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3/13/25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838200" y="1364249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13" Type="http://schemas.openxmlformats.org/officeDocument/2006/relationships/image" Target="../media/image4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7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6.png"/><Relationship Id="rId10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Relationship Id="rId14" Type="http://schemas.openxmlformats.org/officeDocument/2006/relationships/image" Target="../media/image5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7BDD-6725-68B2-639C-E47C9B4601F2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771CE0-19C9-5FCF-1B71-ACF36DEE6664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2A3F44-3AAC-9557-E214-F323108F6B65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EA0613-E945-E437-C733-F9F008F63B76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C5687-C25A-A73E-5192-674F560F89FA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F4021-33FE-506B-3C0D-688FEF669647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B112C-C780-5B47-83AA-D580E668C866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FC597-9201-21C6-383D-67750826F14D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4A6D56-917B-72D3-81F7-A59A36FC4198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512372-0859-45E3-8DD7-AE730B4AFD19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197D57-5F46-DB39-F81D-9205CC53189F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AA9B1-D6E7-98E2-49EF-C98B6F0E7E2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9DFA7-88D2-04F7-451C-7A2C388B178F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98F8E-1DCD-3647-3613-DFFC7CDFF372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F1073-373D-249D-C1F2-A527EB0210C9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2B31A-8903-A616-B756-B8695FC8F38A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892CDF-E500-AD18-C0DB-5405AF35ADE4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F072D-B1FC-4829-B71E-556F57965D46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8BBA60-CCFF-F95A-ECC9-46204EA2214B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F05CFF-A449-FBB3-5F13-F7A72C2E43DE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95BC4-B52A-2D00-62C1-71A44604BBB4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B5B6C5-97CB-45FD-FDEC-1F5C2A0BDC3E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DCC439-D448-E0FC-26EF-94C7A8B8D0DB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4B7B48-2E66-50BA-96FE-D24C4E60BFD7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767BF-EB72-86A2-DBA6-0D26C6C02894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EDF829-6CB0-F03B-E025-85D510B4DC26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F97BF5-A64D-02F2-4B04-BC95CE39DF3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738F9B-27C5-3C49-8FD7-0731EE9AC3BF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194F16-D83C-3057-9151-A884EA8F0931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7A661-0FF9-B849-2771-84AA24CF5EFF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4675A9-3F9A-460D-D8D6-C5D9516859D4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C7787-7D0E-ED5D-DB99-53C4B52AA8F2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CCBF62-5F94-E366-51BD-6C8DCBF90955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880850-0EBA-AD14-E6FD-BB1DC94F3DA5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8.xml"/><Relationship Id="rId3" Type="http://schemas.openxmlformats.org/officeDocument/2006/relationships/image" Target="../media/image9.png"/><Relationship Id="rId7" Type="http://schemas.openxmlformats.org/officeDocument/2006/relationships/customXml" Target="../ink/ink3.xml"/><Relationship Id="rId12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5" Type="http://schemas.openxmlformats.org/officeDocument/2006/relationships/image" Target="../media/image10.png"/><Relationship Id="rId10" Type="http://schemas.openxmlformats.org/officeDocument/2006/relationships/customXml" Target="../ink/ink5.xml"/><Relationship Id="rId4" Type="http://schemas.openxmlformats.org/officeDocument/2006/relationships/customXml" Target="../ink/ink1.xml"/><Relationship Id="rId9" Type="http://schemas.openxmlformats.org/officeDocument/2006/relationships/image" Target="../media/image11.png"/><Relationship Id="rId14" Type="http://schemas.openxmlformats.org/officeDocument/2006/relationships/customXml" Target="../ink/ink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2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2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2167" y="1179418"/>
            <a:ext cx="5739646" cy="2387600"/>
          </a:xfrm>
          <a:noFill/>
        </p:spPr>
        <p:txBody>
          <a:bodyPr/>
          <a:lstStyle/>
          <a:p>
            <a:r>
              <a:rPr lang="en-US" dirty="0"/>
              <a:t>Stack Overflow Developer Survey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040" y="3731247"/>
            <a:ext cx="5849957" cy="1006006"/>
          </a:xfrm>
          <a:noFill/>
        </p:spPr>
        <p:txBody>
          <a:bodyPr/>
          <a:lstStyle/>
          <a:p>
            <a:r>
              <a:rPr lang="en-US" dirty="0">
                <a:solidFill>
                  <a:srgbClr val="0072C3"/>
                </a:solidFill>
              </a:rPr>
              <a:t>MD HASANUZZAMAN</a:t>
            </a:r>
            <a:br>
              <a:rPr lang="en-US" dirty="0">
                <a:solidFill>
                  <a:srgbClr val="0072C3"/>
                </a:solidFill>
              </a:rPr>
            </a:br>
            <a:r>
              <a:rPr lang="en-US" dirty="0">
                <a:solidFill>
                  <a:srgbClr val="0072C3"/>
                </a:solidFill>
              </a:rPr>
              <a:t>MARCH 2025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4719" y="387350"/>
            <a:ext cx="4794861" cy="4351338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13BC838-B25A-D37F-BC71-DD6178957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711" y="2025672"/>
            <a:ext cx="3194581" cy="319458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EC79264-7E04-A135-9158-F7EF333AC3D8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OUTLINE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639434-C7DB-C6DD-28C9-5FE3588C5BC8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>
                <a:solidFill>
                  <a:srgbClr val="0072C3"/>
                </a:solidFill>
              </a:rPr>
              <a:t>Executive Summary</a:t>
            </a:r>
          </a:p>
          <a:p>
            <a:r>
              <a:rPr lang="en-US" sz="2200" dirty="0">
                <a:solidFill>
                  <a:srgbClr val="0072C3"/>
                </a:solidFill>
              </a:rPr>
              <a:t>Introduction</a:t>
            </a:r>
          </a:p>
          <a:p>
            <a:r>
              <a:rPr lang="en-US" sz="2200" dirty="0">
                <a:solidFill>
                  <a:srgbClr val="0072C3"/>
                </a:solidFill>
              </a:rPr>
              <a:t>Methodology</a:t>
            </a:r>
          </a:p>
          <a:p>
            <a:r>
              <a:rPr lang="en-US" sz="2200" dirty="0">
                <a:solidFill>
                  <a:srgbClr val="0072C3"/>
                </a:solidFill>
              </a:rPr>
              <a:t>Results</a:t>
            </a:r>
          </a:p>
          <a:p>
            <a:pPr lvl="1"/>
            <a:r>
              <a:rPr lang="en-US" sz="1800" dirty="0">
                <a:solidFill>
                  <a:srgbClr val="0072C3"/>
                </a:solidFill>
              </a:rPr>
              <a:t>Visualization – Charts</a:t>
            </a:r>
          </a:p>
          <a:p>
            <a:pPr lvl="1"/>
            <a:r>
              <a:rPr lang="en-US" sz="1800" dirty="0">
                <a:solidFill>
                  <a:srgbClr val="0072C3"/>
                </a:solidFill>
              </a:rPr>
              <a:t>Dashboard</a:t>
            </a:r>
          </a:p>
          <a:p>
            <a:r>
              <a:rPr lang="en-US" sz="2200" dirty="0">
                <a:solidFill>
                  <a:srgbClr val="0072C3"/>
                </a:solidFill>
              </a:rPr>
              <a:t>Discussion</a:t>
            </a:r>
          </a:p>
          <a:p>
            <a:pPr lvl="1"/>
            <a:r>
              <a:rPr lang="en-US" sz="1800" dirty="0">
                <a:solidFill>
                  <a:srgbClr val="0072C3"/>
                </a:solidFill>
              </a:rPr>
              <a:t>Findings &amp; Implications</a:t>
            </a:r>
          </a:p>
          <a:p>
            <a:r>
              <a:rPr lang="en-US" sz="2200" dirty="0">
                <a:solidFill>
                  <a:srgbClr val="0072C3"/>
                </a:solidFill>
              </a:rPr>
              <a:t>Conclusion</a:t>
            </a:r>
          </a:p>
          <a:p>
            <a:r>
              <a:rPr lang="en-US" sz="2200" dirty="0">
                <a:solidFill>
                  <a:srgbClr val="0072C3"/>
                </a:solidFill>
              </a:rPr>
              <a:t>Appendix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14:cNvPr>
              <p14:cNvContentPartPr/>
              <p14:nvPr/>
            </p14:nvContentPartPr>
            <p14:xfrm>
              <a:off x="2328120" y="9629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38120" y="782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45324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926" y="304965"/>
            <a:ext cx="8565109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4285075" y="1825624"/>
            <a:ext cx="7068725" cy="44654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Objective of Data Contextualization and Analysis</a:t>
            </a:r>
          </a:p>
          <a:p>
            <a:r>
              <a:rPr lang="en-US" sz="2200" dirty="0"/>
              <a:t>Description of the Methodology Used</a:t>
            </a:r>
          </a:p>
          <a:p>
            <a:r>
              <a:rPr lang="en-US" sz="2200" dirty="0"/>
              <a:t>Data Collection Process</a:t>
            </a:r>
          </a:p>
          <a:p>
            <a:r>
              <a:rPr lang="en-US" sz="2200" dirty="0"/>
              <a:t>Data Processing and Evaluation</a:t>
            </a:r>
          </a:p>
          <a:p>
            <a:r>
              <a:rPr lang="en-US" sz="2200" dirty="0"/>
              <a:t>Data Representation Through Visuals</a:t>
            </a:r>
          </a:p>
          <a:p>
            <a:r>
              <a:rPr lang="en-US" sz="2200" dirty="0"/>
              <a:t>Interpretation and Discussion of Findings</a:t>
            </a:r>
          </a:p>
          <a:p>
            <a:r>
              <a:rPr lang="en-US" sz="2200" dirty="0"/>
              <a:t>Summary and Final Insights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6795A9-FE70-B337-8B17-B79ACA60A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494" y="2302762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021" y="365125"/>
            <a:ext cx="764786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INTRODUCTION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C879F-E713-B75A-D2DE-0953EB0E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347" y="2262036"/>
            <a:ext cx="3054361" cy="305436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4285075" y="1825625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>
                <a:solidFill>
                  <a:schemeClr val="tx1"/>
                </a:solidFill>
              </a:rPr>
              <a:t>Stack Overflow’s annual Developer Survey is one of the most extensive and detailed studies of programmers worldwide.</a:t>
            </a:r>
          </a:p>
          <a:p>
            <a:r>
              <a:rPr lang="en-US" sz="2200" dirty="0">
                <a:solidFill>
                  <a:schemeClr val="tx1"/>
                </a:solidFill>
              </a:rPr>
              <a:t>The results may not fully reflect the entire developer community. </a:t>
            </a:r>
          </a:p>
          <a:p>
            <a:r>
              <a:rPr lang="en-US" sz="2200" dirty="0">
                <a:solidFill>
                  <a:schemeClr val="tx1"/>
                </a:solidFill>
              </a:rPr>
              <a:t>It includes insights from nearly 90,000 developers. </a:t>
            </a:r>
          </a:p>
          <a:p>
            <a:r>
              <a:rPr lang="en-US" sz="2200" dirty="0">
                <a:solidFill>
                  <a:schemeClr val="tx1"/>
                </a:solidFill>
              </a:rPr>
              <a:t>Identifies trends to forecast the future direction of the developer community.</a:t>
            </a:r>
          </a:p>
          <a:p>
            <a:r>
              <a:rPr lang="en-US" sz="2200" dirty="0">
                <a:solidFill>
                  <a:schemeClr val="tx1"/>
                </a:solidFill>
              </a:rPr>
              <a:t>Provides a profile of developers from different regions and backgrounds.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376642"/>
            <a:ext cx="7230723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4285075" y="1461246"/>
            <a:ext cx="7068725" cy="5172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Gather survey data and examine its content.</a:t>
            </a:r>
          </a:p>
          <a:p>
            <a:r>
              <a:rPr lang="en-US" sz="2200" dirty="0"/>
              <a:t>Perform web scraping to collect data.	</a:t>
            </a:r>
          </a:p>
          <a:p>
            <a:r>
              <a:rPr lang="en-US" sz="2200" dirty="0"/>
              <a:t>Use APIs for data access.</a:t>
            </a:r>
          </a:p>
          <a:p>
            <a:r>
              <a:rPr lang="en-US" sz="2200" dirty="0"/>
              <a:t>Utilize the `requests` library to retrieve data</a:t>
            </a:r>
          </a:p>
          <a:p>
            <a:r>
              <a:rPr lang="en-US" sz="2200" dirty="0"/>
              <a:t>Conduct data wrangling to clean and organize data.</a:t>
            </a:r>
          </a:p>
          <a:p>
            <a:r>
              <a:rPr lang="en-US" sz="2200" dirty="0"/>
              <a:t>Perform exploratory data analysis (EDA). </a:t>
            </a:r>
          </a:p>
          <a:p>
            <a:r>
              <a:rPr lang="en-US" sz="2200" dirty="0"/>
              <a:t>Analyze data distribution and identify patterns.</a:t>
            </a:r>
          </a:p>
          <a:p>
            <a:r>
              <a:rPr lang="en-US" sz="2200" dirty="0"/>
              <a:t>Manage and handle outliers. </a:t>
            </a:r>
          </a:p>
          <a:p>
            <a:r>
              <a:rPr lang="en-US" sz="2200" dirty="0"/>
              <a:t>Explore correlations between variables. </a:t>
            </a:r>
          </a:p>
          <a:p>
            <a:r>
              <a:rPr lang="en-US" sz="2200" dirty="0"/>
              <a:t>Create data visualizations to highlight distributions, relationships, composition, and comparisons.</a:t>
            </a:r>
          </a:p>
          <a:p>
            <a:r>
              <a:rPr lang="en-US" sz="2200" dirty="0"/>
              <a:t>Develop interactive dashboards to present insights.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CF71F-8A03-DAC7-4BC2-F05644ECB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655" y="1831709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27A2E-C667-F6D3-A1E3-47F70603E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39A591-4DF0-3912-FF72-3FD0BD7B9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PROGRAMMING LANGUAGE TRENDS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4B8C8AD-F58A-1F17-9CA2-E737E19499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22286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Current Year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9FB3B79-D3E9-99FC-ECF2-28CCBF6475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17581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Next Year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DFAC5CF-1B58-ABB4-D63B-1D931D572459}"/>
              </a:ext>
            </a:extLst>
          </p:cNvPr>
          <p:cNvSpPr txBox="1">
            <a:spLocks/>
          </p:cNvSpPr>
          <p:nvPr/>
        </p:nvSpPr>
        <p:spPr>
          <a:xfrm>
            <a:off x="838199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&lt;Bar chart of top 10 programming languages for the current year goes here.&gt;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BAA9DB0-9EAC-9B25-C7F3-3CE83758128E}"/>
              </a:ext>
            </a:extLst>
          </p:cNvPr>
          <p:cNvSpPr txBox="1">
            <a:spLocks/>
          </p:cNvSpPr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&lt; Bar chart of top 10 programming languages for the next year goes here.&gt;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84467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2800" dirty="0"/>
              <a:t>PROGRAMMING LANGUAGE TRENDS -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Finding 1</a:t>
            </a:r>
          </a:p>
          <a:p>
            <a:r>
              <a:rPr lang="en-US" dirty="0"/>
              <a:t>Finding 2</a:t>
            </a:r>
          </a:p>
          <a:p>
            <a:r>
              <a:rPr lang="en-US" dirty="0"/>
              <a:t>Finding 3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Implication 1</a:t>
            </a:r>
          </a:p>
          <a:p>
            <a:r>
              <a:rPr lang="en-US" dirty="0"/>
              <a:t>Implication 2</a:t>
            </a:r>
          </a:p>
          <a:p>
            <a:r>
              <a:rPr lang="en-US" dirty="0"/>
              <a:t>Implication 3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/>
          <a:lstStyle/>
          <a:p>
            <a:r>
              <a:rPr lang="en-US" dirty="0"/>
              <a:t>DATABASE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22286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Current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17581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Next Year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E86EFD-B801-5996-879A-7A13CF75507C}"/>
              </a:ext>
            </a:extLst>
          </p:cNvPr>
          <p:cNvSpPr txBox="1">
            <a:spLocks/>
          </p:cNvSpPr>
          <p:nvPr/>
        </p:nvSpPr>
        <p:spPr>
          <a:xfrm>
            <a:off x="838199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&lt; Bar chart of top 10 databases for the current year goes here &gt;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288C39-3E30-44CF-06C3-D46763CC8E0C}"/>
              </a:ext>
            </a:extLst>
          </p:cNvPr>
          <p:cNvSpPr txBox="1">
            <a:spLocks/>
          </p:cNvSpPr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&lt; Bar chart of top 10 databases for the next year goes here.&gt;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A6A9C-70D0-119E-38BE-1738DA5AD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97E2B-01DB-9C21-4CF2-1586AB1C3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85" y="365125"/>
            <a:ext cx="12094029" cy="1325563"/>
          </a:xfrm>
        </p:spPr>
        <p:txBody>
          <a:bodyPr/>
          <a:lstStyle/>
          <a:p>
            <a:r>
              <a:rPr lang="en-US" dirty="0"/>
              <a:t>DATABASE TRENDS -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EC42F-75A2-FA08-F2B6-EB2817BBF8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Finding 1</a:t>
            </a:r>
          </a:p>
          <a:p>
            <a:r>
              <a:rPr lang="en-US" dirty="0"/>
              <a:t>Finding 2</a:t>
            </a:r>
          </a:p>
          <a:p>
            <a:r>
              <a:rPr lang="en-US" dirty="0"/>
              <a:t>Finding 3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27B10A-E9C3-5B71-0345-782E28BDB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Implication 1</a:t>
            </a:r>
          </a:p>
          <a:p>
            <a:r>
              <a:rPr lang="en-US" dirty="0"/>
              <a:t>Implication 2</a:t>
            </a:r>
          </a:p>
          <a:p>
            <a:r>
              <a:rPr lang="en-US" dirty="0"/>
              <a:t>Implication 3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88125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200" dirty="0"/>
              <a:t>&lt;Please present your dashboard in the following slides.&gt;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75" y="1901819"/>
            <a:ext cx="3054361" cy="305436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F0CA-55D1-0835-20D4-03D017A1D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93914-A678-A34E-C52A-16D0ADAA2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DASHBOARD TAB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6FB03-F857-3EC0-249E-AE03F39150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Screenshot of dashboard tab 1 goes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29736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8F23D-B8D7-D0E4-EDC5-E0F023884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F933A-3681-3D82-68EF-62EC07822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DASHBOARD TAB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60BF9-AB8D-4916-3BC9-E2E92E0872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Screenshot of dashboard tab 2 goes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8496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A10D3-267F-7A90-5160-775BFEBCA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C0C82-5F1A-F7B1-2C56-5C08240C1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DASHBOARD TAB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61A98-8DF3-E66E-19C4-7D7642551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Screenshot of dashboard tab 3 goes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05636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62C0A-56EF-B349-A097-27B4D460D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98769-531F-C6A5-406F-D1C3D2805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DISCUSSION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1F45ECC1-C956-CADF-DDFD-F54C6608E40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253331" y="1825625"/>
            <a:ext cx="4351338" cy="4351338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67EF50-003F-6BB0-4367-42BB884C77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57333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05330-0589-A550-601A-037CA416F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A8902-AF46-DDE8-D792-7940E18AF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OVERALL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6B89C-35B9-C514-4E9C-FCBE8D68D3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Finding 1</a:t>
            </a:r>
          </a:p>
          <a:p>
            <a:r>
              <a:rPr lang="en-US" dirty="0"/>
              <a:t>Finding 2</a:t>
            </a:r>
          </a:p>
          <a:p>
            <a:r>
              <a:rPr lang="en-US" dirty="0"/>
              <a:t>Finding 3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DBBA5A-826D-FFFD-F1BE-92269842D3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Implication 1</a:t>
            </a:r>
          </a:p>
          <a:p>
            <a:r>
              <a:rPr lang="en-US" dirty="0"/>
              <a:t>Implication 2</a:t>
            </a:r>
          </a:p>
          <a:p>
            <a:r>
              <a:rPr lang="en-US" dirty="0"/>
              <a:t>Implication 3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65637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3A16F-6AB5-5C0B-5466-65B2A6AE8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E978FF3-BC93-079A-1687-DD4786B81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E75918E-509D-16F8-F478-FA41759FEFE9}"/>
              </a:ext>
            </a:extLst>
          </p:cNvPr>
          <p:cNvSpPr txBox="1">
            <a:spLocks/>
          </p:cNvSpPr>
          <p:nvPr/>
        </p:nvSpPr>
        <p:spPr>
          <a:xfrm>
            <a:off x="4544291" y="1825625"/>
            <a:ext cx="68095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Point 1</a:t>
            </a:r>
          </a:p>
          <a:p>
            <a:r>
              <a:rPr lang="en-US"/>
              <a:t>Point 2</a:t>
            </a:r>
          </a:p>
          <a:p>
            <a:r>
              <a:rPr lang="en-US"/>
              <a:t>Point 3</a:t>
            </a:r>
          </a:p>
          <a:p>
            <a:r>
              <a:rPr lang="en-US"/>
              <a:t>Point 4</a:t>
            </a:r>
            <a:endParaRPr lang="en-US" dirty="0"/>
          </a:p>
        </p:txBody>
      </p:sp>
      <p:pic>
        <p:nvPicPr>
          <p:cNvPr id="13" name="Content Placeholder 5">
            <a:extLst>
              <a:ext uri="{FF2B5EF4-FFF2-40B4-BE49-F238E27FC236}">
                <a16:creationId xmlns:a16="http://schemas.microsoft.com/office/drawing/2014/main" id="{CD985AE9-0D12-3398-B9B7-4395CABF17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25967" y="2113896"/>
            <a:ext cx="3054361" cy="305436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403782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APPENDIX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E40FF55-AE57-CB43-454D-CEFBE080CE8E}"/>
              </a:ext>
            </a:extLst>
          </p:cNvPr>
          <p:cNvSpPr txBox="1">
            <a:spLocks/>
          </p:cNvSpPr>
          <p:nvPr/>
        </p:nvSpPr>
        <p:spPr>
          <a:xfrm>
            <a:off x="4544291" y="1825625"/>
            <a:ext cx="68095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Include any relevant additional charts, or tables that you may have created during the analysis phase.</a:t>
            </a:r>
            <a:endParaRPr lang="en-US" dirty="0"/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055857" y="1849823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4E31-32FC-4A23-CEF9-98F0BB9F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334EF5D-2E2A-7FE5-06C6-01ACAB1F4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248" y="383051"/>
            <a:ext cx="5929053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 JOB POSTINGS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3F79416-0AFB-FC80-07E8-3CF2B4E7E798}"/>
              </a:ext>
            </a:extLst>
          </p:cNvPr>
          <p:cNvSpPr txBox="1">
            <a:spLocks/>
          </p:cNvSpPr>
          <p:nvPr/>
        </p:nvSpPr>
        <p:spPr>
          <a:xfrm>
            <a:off x="914400" y="2191385"/>
            <a:ext cx="10489276" cy="2862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200"/>
              <a:t>In Module 1 you have collected the job posting data using Job API in a file named “</a:t>
            </a:r>
            <a:r>
              <a:rPr lang="en-IN" sz="2400"/>
              <a:t>job-postings.xlsx</a:t>
            </a:r>
            <a:r>
              <a:rPr lang="en-US" sz="2200"/>
              <a:t>”. Present that data using a bar chart here. Order the bar chart in the descending order of the number of job postings.</a:t>
            </a:r>
            <a:endParaRPr lang="en-US" sz="2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353738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DB558-7141-B0CE-D399-712C1073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2CF5900-71B3-70B0-7CF1-4A1C535AD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248" y="383051"/>
            <a:ext cx="5929053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POPULAR LANGUAGES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5B1AABA-34AF-B1F5-3C7F-11AEB9E03637}"/>
              </a:ext>
            </a:extLst>
          </p:cNvPr>
          <p:cNvSpPr txBox="1">
            <a:spLocks/>
          </p:cNvSpPr>
          <p:nvPr/>
        </p:nvSpPr>
        <p:spPr>
          <a:xfrm>
            <a:off x="878305" y="2191385"/>
            <a:ext cx="10525371" cy="2862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200"/>
              <a:t>In Module 1 you have collected the job postings data using web scraping in a file named “</a:t>
            </a:r>
            <a:r>
              <a:rPr lang="en-IN" sz="2400"/>
              <a:t>popular-languages.csv</a:t>
            </a:r>
            <a:r>
              <a:rPr lang="en-US" sz="2200"/>
              <a:t>”. Present that data using a bar chart here. Order the bar chart in the descending order of salary.</a:t>
            </a:r>
            <a:endParaRPr lang="en-US" sz="2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459025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4DA07C5-A406-4A0D-B3E6-3856C94AC7F3}">
  <ds:schemaRefs>
    <ds:schemaRef ds:uri="155be751-a274-42e8-93fb-f39d3b9bccc8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f80a141d-92ca-4d3d-9308-f7e7b1d44ce8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IBM PPT Temp Jan 2023</Template>
  <TotalTime>28</TotalTime>
  <Words>498</Words>
  <Application>Microsoft Macintosh PowerPoint</Application>
  <PresentationFormat>Widescreen</PresentationFormat>
  <Paragraphs>108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Helv</vt:lpstr>
      <vt:lpstr>IBM Plex Mono</vt:lpstr>
      <vt:lpstr>IBM Plex Sans</vt:lpstr>
      <vt:lpstr>IBM Plex Sans SemiBold</vt:lpstr>
      <vt:lpstr>SLIDE_TEMPLATE_skill_network</vt:lpstr>
      <vt:lpstr>Stack Overflow Developer Survey</vt:lpstr>
      <vt:lpstr>PowerPoint Presentation</vt:lpstr>
      <vt:lpstr>EXECUTIVE SUMMARY</vt:lpstr>
      <vt:lpstr>INTRODUCTION</vt:lpstr>
      <vt:lpstr>METHODOLOGY</vt:lpstr>
      <vt:lpstr>PROGRAMMING LANGUAGE TRENDS</vt:lpstr>
      <vt:lpstr>PROGRAMMING LANGUAGE TRENDS - FINDINGS &amp; IMPLICATIONS</vt:lpstr>
      <vt:lpstr>DATABASE TRENDS</vt:lpstr>
      <vt:lpstr>DATABASE TRENDS - FINDINGS &amp; IMPLICATIONS</vt:lpstr>
      <vt:lpstr>DASHBOARD</vt:lpstr>
      <vt:lpstr>DASHBOARD TAB 1</vt:lpstr>
      <vt:lpstr>DASHBOARD TAB 2</vt:lpstr>
      <vt:lpstr>DASHBOARD TAB 3</vt:lpstr>
      <vt:lpstr>DISCUSSION</vt:lpstr>
      <vt:lpstr>OVERALL FINDINGS &amp; IMPLICATIONS</vt:lpstr>
      <vt:lpstr>CONCLUSION</vt:lpstr>
      <vt:lpstr>APPENDIX</vt:lpstr>
      <vt:lpstr> JOB POSTINGS</vt:lpstr>
      <vt:lpstr>POPULAR LANGUAGES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Hasanuzzaman</cp:lastModifiedBy>
  <cp:revision>8</cp:revision>
  <dcterms:created xsi:type="dcterms:W3CDTF">2024-10-30T05:40:03Z</dcterms:created>
  <dcterms:modified xsi:type="dcterms:W3CDTF">2025-03-13T05:36:57Z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